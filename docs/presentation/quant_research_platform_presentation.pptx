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66751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Quantitative Research Platform</a:t>
            </a:r>
          </a:p>
          <a:p>
            <a:r>
              <a:rPr sz="3000" b="1">
                <a:solidFill>
                  <a:srgbClr val="A3E635"/>
                </a:solidFill>
                <a:latin typeface="Aptos Display"/>
              </a:rPr>
              <a:t>for European S&amp;P 500 Options</a:t>
            </a:r>
          </a:p>
          <a:p>
            <a:pPr>
              <a:spcBef>
                <a:spcPts val="1800"/>
              </a:spcBef>
              <a:defRPr sz="1800">
                <a:solidFill>
                  <a:srgbClr val="94A3B8"/>
                </a:solidFill>
                <a:latin typeface="Aptos"/>
              </a:defRPr>
            </a:pPr>
            <a:r>
              <a:t>Combining pricing models, calibration, live opportunity scanning, and controlled backtesting.</a:t>
            </a:r>
          </a:p>
          <a:p>
            <a:pPr>
              <a:spcBef>
                <a:spcPts val="2400"/>
              </a:spcBef>
              <a:defRPr sz="1800" b="1">
                <a:solidFill>
                  <a:srgbClr val="FFFFFF"/>
                </a:solidFill>
                <a:latin typeface="Aptos"/>
              </a:defRPr>
            </a:pPr>
            <a:r>
              <a:t>Bach Nguyen</a:t>
            </a:r>
          </a:p>
          <a:p>
            <a:pPr>
              <a:defRPr sz="1300">
                <a:solidFill>
                  <a:srgbClr val="38BDF8"/>
                </a:solidFill>
                <a:latin typeface="Aptos"/>
              </a:defRPr>
            </a:pPr>
            <a:r>
              <a:t>github.com/bachnguyennn/black-scholes-monte-carlo</a:t>
            </a:r>
          </a:p>
        </p:txBody>
      </p:sp>
      <p:pic>
        <p:nvPicPr>
          <p:cNvPr id="4" name="Picture 3" descr="option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914400"/>
            <a:ext cx="38404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Problem &amp; </a:t>
            </a:r>
            <a:r>
              <a:rPr sz="2800" b="1">
                <a:solidFill>
                  <a:srgbClr val="A3E635"/>
                </a:solidFill>
                <a:latin typeface="Aptos Display"/>
              </a:rPr>
              <a:t>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6858000" cy="50292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630936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European index options are central to institutional hedging and volatility trading.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Black-Scholes is useful, but its assumptions are too restrictive for real markets.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Real option markets exhibit skew, smile, stochastic volatility, and jump risk.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The objective was to build a platform that compares models and makes assumptions explicit.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554480"/>
            <a:ext cx="3749039" cy="38404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524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0" y="1691640"/>
            <a:ext cx="3383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57400"/>
            <a:ext cx="320040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Better pricing intuition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Transparent model comparison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Calibration tied to live data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Research workflow instead of black-box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System </a:t>
            </a:r>
            <a:r>
              <a:rPr sz="2800" b="1">
                <a:solidFill>
                  <a:srgbClr val="A3E635"/>
                </a:solidFill>
                <a:latin typeface="Aptos Display"/>
              </a:rP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926080" cy="25603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468880"/>
            <a:ext cx="2514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ptos Display"/>
              </a:defRPr>
            </a:pPr>
            <a:r>
              <a:t>Streamlit</a:t>
            </a:r>
          </a:p>
          <a:p>
            <a:pPr>
              <a:defRPr sz="1600">
                <a:solidFill>
                  <a:srgbClr val="94A3B8"/>
                </a:solidFill>
                <a:latin typeface="Aptos"/>
              </a:defRPr>
            </a:pPr>
            <a:r>
              <a:t>Interaction, charts, diagnostics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828800"/>
            <a:ext cx="2926080" cy="25603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524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9659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2468880"/>
            <a:ext cx="2514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3E635"/>
                </a:solidFill>
                <a:latin typeface="Aptos Display"/>
              </a:defRPr>
            </a:pPr>
            <a:r>
              <a:t>FastAPI</a:t>
            </a:r>
          </a:p>
          <a:p>
            <a:pPr>
              <a:defRPr sz="1600">
                <a:solidFill>
                  <a:srgbClr val="94A3B8"/>
                </a:solidFill>
                <a:latin typeface="Aptos"/>
              </a:defRPr>
            </a:pPr>
            <a:r>
              <a:t>API endpoints and scan execution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828800"/>
            <a:ext cx="2926080" cy="25603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9659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Core Engines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8" y="2468880"/>
            <a:ext cx="2514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084FC"/>
                </a:solidFill>
                <a:latin typeface="Aptos Display"/>
              </a:defRPr>
            </a:pPr>
            <a:r>
              <a:t>Pricing, calibration, scanner, backtester</a:t>
            </a:r>
          </a:p>
        </p:txBody>
      </p:sp>
      <p:sp>
        <p:nvSpPr>
          <p:cNvPr id="13" name="Chevron 12"/>
          <p:cNvSpPr/>
          <p:nvPr/>
        </p:nvSpPr>
        <p:spPr>
          <a:xfrm>
            <a:off x="3493008" y="2788920"/>
            <a:ext cx="384048" cy="384048"/>
          </a:xfrm>
          <a:prstGeom prst="chevron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13448" y="2788920"/>
            <a:ext cx="384048" cy="384048"/>
          </a:xfrm>
          <a:prstGeom prst="chevron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Quantitative Models &amp; </a:t>
            </a:r>
            <a:r>
              <a:rPr sz="2800" b="1">
                <a:solidFill>
                  <a:srgbClr val="A3E635"/>
                </a:solidFill>
                <a:latin typeface="Aptos Display"/>
              </a:rPr>
              <a:t>Math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937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Black-Scholes</a:t>
            </a:r>
          </a:p>
          <a:p>
            <a:pPr>
              <a:defRPr sz="1400">
                <a:solidFill>
                  <a:srgbClr val="94A3B8"/>
                </a:solidFill>
                <a:latin typeface="Aptos"/>
              </a:defRPr>
            </a:pPr>
            <a:r>
              <a:t>Analytical benchmark for European options.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4937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GBM Monte Carlo</a:t>
            </a:r>
          </a:p>
          <a:p>
            <a:pPr>
              <a:defRPr sz="1400">
                <a:solidFill>
                  <a:srgbClr val="94A3B8"/>
                </a:solidFill>
                <a:latin typeface="Aptos"/>
              </a:defRPr>
            </a:pPr>
            <a:r>
              <a:t>Baseline simulation engine and convergence reference.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524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31919"/>
            <a:ext cx="4937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Heston</a:t>
            </a:r>
          </a:p>
          <a:p>
            <a:pPr>
              <a:defRPr sz="1400">
                <a:solidFill>
                  <a:srgbClr val="94A3B8"/>
                </a:solidFill>
                <a:latin typeface="Aptos"/>
              </a:defRPr>
            </a:pPr>
            <a:r>
              <a:t>Captures stochastic volatility and volatility skew.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937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Jump Diffusion</a:t>
            </a:r>
          </a:p>
          <a:p>
            <a:pPr>
              <a:defRPr sz="1400">
                <a:solidFill>
                  <a:srgbClr val="94A3B8"/>
                </a:solidFill>
                <a:latin typeface="Aptos"/>
              </a:defRPr>
            </a:pPr>
            <a:r>
              <a:t>Adds discontinuous crash risk to diffusion dynamics.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060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4937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LSV</a:t>
            </a:r>
          </a:p>
          <a:p>
            <a:pPr>
              <a:defRPr sz="1400">
                <a:solidFill>
                  <a:srgbClr val="94A3B8"/>
                </a:solidFill>
                <a:latin typeface="Aptos"/>
              </a:defRPr>
            </a:pPr>
            <a:r>
              <a:t>Extends the framework toward better surface fitting.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Calibration: </a:t>
            </a:r>
            <a:r>
              <a:rPr sz="2800" b="1">
                <a:solidFill>
                  <a:srgbClr val="A3E635"/>
                </a:solidFill>
                <a:latin typeface="Aptos Display"/>
              </a:rPr>
              <a:t>Connecting Theory to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2103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C084FC"/>
                </a:solidFill>
                <a:latin typeface="Aptos Display"/>
              </a:defRPr>
            </a:pPr>
            <a:r>
              <a:t>RMSE</a:t>
            </a:r>
          </a:p>
          <a:p>
            <a:pPr algn="ctr">
              <a:defRPr sz="1600">
                <a:solidFill>
                  <a:srgbClr val="94A3B8"/>
                </a:solidFill>
                <a:latin typeface="Aptos"/>
              </a:defRPr>
            </a:pPr>
            <a:r>
              <a:t>Root Mean Square Error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554480"/>
            <a:ext cx="7772400" cy="38404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19" y="1691640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Why Calibration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057400"/>
            <a:ext cx="713232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Without calibration, advanced model outputs are only parameter guesses.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Calibration fits model parameters to the implied volatility surface.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Weighted error minimization aligns theoretical values with live market structure.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This is the bridge between pure theory and observed option prices.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Live </a:t>
            </a:r>
            <a:r>
              <a:rPr sz="2800" b="1">
                <a:solidFill>
                  <a:srgbClr val="A3E635"/>
                </a:solidFill>
                <a:latin typeface="Aptos Display"/>
              </a:rPr>
              <a:t>Scanner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4937760" cy="44805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389120" cy="3749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Strict filtering removes illiquid, inconsistent, and low-quality contracts.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Signal logic is bid/ask aware, not midpoint based.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Opportunities are only shown when model edge exceeds execution costs.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Diagnostics expose filtering reasons, volatility source, and execution mode.</a:t>
            </a:r>
          </a:p>
        </p:txBody>
      </p:sp>
      <p:pic>
        <p:nvPicPr>
          <p:cNvPr id="6" name="Picture 5" descr="live-sc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57150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Backtester &amp; </a:t>
            </a:r>
            <a:r>
              <a:rPr sz="2800" b="1">
                <a:solidFill>
                  <a:srgbClr val="A3E635"/>
                </a:solidFill>
                <a:latin typeface="Aptos Display"/>
              </a:rPr>
              <a:t>Research Integrity</a:t>
            </a:r>
          </a:p>
        </p:txBody>
      </p:sp>
      <p:pic>
        <p:nvPicPr>
          <p:cNvPr id="4" name="Picture 3" descr="backte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557784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92240" y="1508760"/>
            <a:ext cx="5029200" cy="43891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524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828800"/>
            <a:ext cx="4389120" cy="3749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No-look-ahead volatility estimation.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Delta hedging and transaction-cost accounting.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Cost sensitivity and methodology disclosure.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Research simulator framing rather than execution-grade claim.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Results &amp; </a:t>
            </a:r>
            <a:r>
              <a:rPr sz="2800" b="1">
                <a:solidFill>
                  <a:srgbClr val="A3E635"/>
                </a:solidFill>
                <a:latin typeface="Aptos Display"/>
              </a:rPr>
              <a:t>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45262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524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283464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Multi-model pricing framework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Calibration layer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Transparent diagnostics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Modular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291840" cy="45262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874519"/>
            <a:ext cx="269748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Depends on Yahoo Finance data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No historical option NBBO replay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Research-grade, not execution-grade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417320"/>
            <a:ext cx="3566160" cy="45262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15544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874519"/>
            <a:ext cx="292608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Institutional data feed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Historical options dataset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Stronger calibration validation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Automated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3E635"/>
                </a:solidFill>
                <a:latin typeface="Aptos"/>
              </a:defRPr>
            </a:pPr>
            <a:r>
              <a:t>A credible quantitative research environment combining model comparison, calibration, diagnostics, and transparent backtesting.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